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4427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MARKETING CAMPAIGN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Analytics Case Study on Term Deposit Subscription Behaviour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08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Patricia Fagbola   |   </a:t>
            </a:r>
            <a:r>
              <a:rPr lang="en-US" sz="1300" dirty="0" err="1">
                <a:solidFill>
                  <a:srgbClr val="708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</a:t>
            </a:r>
            <a:r>
              <a:rPr lang="en-US" sz="1300" dirty="0">
                <a:solidFill>
                  <a:srgbClr val="708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 Analytics Internship   |   Week 5 Case Study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509760" y="822960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" name="Shape 4"/>
          <p:cNvSpPr/>
          <p:nvPr/>
        </p:nvSpPr>
        <p:spPr>
          <a:xfrm>
            <a:off x="9921240" y="1143000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691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 are costly, yet not every customer contacted responds positively. The bank ran a telemarketing campaign encouraging customers to subscribe to a term deposit  and some customers subscribed while others did not.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this case study answers: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4526280"/>
            <a:ext cx="10149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customer characteristics and campaign strategies are associated with a higher likelihood of term deposit subscription  and how can this be used to improve future campaigns?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Bank Marketing Dataset — telemarketing campaign for a term deposit product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0B254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288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11,162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6916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0B254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8288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29000" y="25146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0B254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8288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47.4%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25146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Subscribed (Yes)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06840" y="16916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0B254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18288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52.6%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06840" y="25146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Subscribe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794760"/>
            <a:ext cx="5212080" cy="8229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8679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4206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job, marital, education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3794760"/>
            <a:ext cx="5212080" cy="8229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38679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profile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4206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balance, housing, loan, default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800600"/>
            <a:ext cx="5212080" cy="8229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8737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contact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5212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contact, month, duration, campaign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26480" y="4800600"/>
            <a:ext cx="5212080" cy="8229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48737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campaign &amp; target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55080" y="5212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pdays, previous, poutcome, deposit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deposit  did the customer subscribe to a term deposit? (yes / no)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Visualization — Overview &amp; Customer Segments</a:t>
            </a:r>
            <a:endParaRPr lang="en-US" sz="2600" dirty="0"/>
          </a:p>
        </p:txBody>
      </p:sp>
      <p:pic>
        <p:nvPicPr>
          <p:cNvPr id="3" name="Image 0" descr="/mnt/user-data/uploads/Screenshot_2026-07-08_1957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599" y="1143000"/>
            <a:ext cx="950232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Visualization — Financial Profile &amp; Contact Strategy</a:t>
            </a:r>
            <a:endParaRPr lang="en-US" sz="2600" dirty="0"/>
          </a:p>
        </p:txBody>
      </p:sp>
      <p:pic>
        <p:nvPicPr>
          <p:cNvPr id="3" name="Image 0" descr="/mnt/user-data/uploads/Screenshot_2026-07-08_1958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587" y="1143000"/>
            <a:ext cx="952434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Findings  -Key Drivers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strength of impact on conversion rate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8FA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91640" y="17647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campaign outcome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691640" y="216712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subscribers convert at 91.32%, nearly double the 47.4% average, but are just 9.6% of contacts.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8FA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0" y="17647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type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315200" y="216712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convert at 74.72% vs. 36.42% for blue-collar workers — a 2x gap.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24612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8FA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91640" y="34107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(U-shaped)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691640" y="381304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60+ and 18-30 convert higher than the 31-60 middle-age range.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24612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8FA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315200" y="34107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level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315200" y="381304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education outperforms primary across most job categories.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89204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8FA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5029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91640" y="505663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status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691640" y="545896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without a housing or personal loan convert roughly 2x more.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489204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8FA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46520" y="5029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315200" y="505663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method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315200" y="545896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contact outperforms telephone and unknown methods.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18872" cy="11887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2527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subscribers are a warm lead  —  </a:t>
            </a: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at 91.32% vs. a 47.4% average, yet are under 10% of total contacts.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75688"/>
            <a:ext cx="118872" cy="118872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1109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 matters  —  </a:t>
            </a: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(74.72%) and retirees (66.32%) convert roughly 2x more than blue-collar workers (36.42%).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734056"/>
            <a:ext cx="118872" cy="11887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56946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life stage, not just age  —  </a:t>
            </a: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and old convert better; middle-aged customers, likely juggling more financial commitments, convert less.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92424"/>
            <a:ext cx="118872" cy="118872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2278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correlates with conversion  —  </a:t>
            </a: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Possibly reflects financial literacy or familiarity with savings products.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050792"/>
            <a:ext cx="118872" cy="11887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886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debt lowers conversion  —  </a:t>
            </a: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holders convert at roughly half the rate of those without.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118872" cy="118872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5445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and frequency matter  —  </a:t>
            </a: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outperforms telephone; conversion drops sharply after a few contacts.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5367528"/>
            <a:ext cx="118872" cy="11887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20293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peaks in December and March  —  </a:t>
            </a: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tied to year-end bonus and savings behaviour; contact volume should be checked.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1481328"/>
            <a:ext cx="292608" cy="29260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past subscribers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80160" y="181051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at 91.32% but is only 9.6% of contacts; prioritize renewed outreach.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280160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</p:spPr>
      </p:sp>
      <p:sp>
        <p:nvSpPr>
          <p:cNvPr id="9" name="Shape 7"/>
          <p:cNvSpPr/>
          <p:nvPr/>
        </p:nvSpPr>
        <p:spPr>
          <a:xfrm>
            <a:off x="6464808" y="1481328"/>
            <a:ext cx="292608" cy="29260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0" name="Text 8"/>
          <p:cNvSpPr/>
          <p:nvPr/>
        </p:nvSpPr>
        <p:spPr>
          <a:xfrm>
            <a:off x="6464808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03720" y="14173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profession gap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903720" y="181051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unclear  research before targeting by job type.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743200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41248" y="2944368"/>
            <a:ext cx="292608" cy="29260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288036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Re-think messaging for middle-aged customers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280160" y="327355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offers suited to their financial stage.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2743200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464808" y="2944368"/>
            <a:ext cx="292608" cy="29260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0" name="Text 18"/>
          <p:cNvSpPr/>
          <p:nvPr/>
        </p:nvSpPr>
        <p:spPr>
          <a:xfrm>
            <a:off x="6464808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3720" y="288036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the pitch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903720" y="327355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more time explaining term deposit benefits clearly.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206240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</p:spPr>
      </p:sp>
      <p:sp>
        <p:nvSpPr>
          <p:cNvPr id="24" name="Shape 22"/>
          <p:cNvSpPr/>
          <p:nvPr/>
        </p:nvSpPr>
        <p:spPr>
          <a:xfrm>
            <a:off x="841248" y="4407408"/>
            <a:ext cx="292608" cy="29260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4407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434340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loan/debt link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280160" y="473659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before designing offers for indebted customers.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4206240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</p:spPr>
      </p:sp>
      <p:sp>
        <p:nvSpPr>
          <p:cNvPr id="29" name="Shape 27"/>
          <p:cNvSpPr/>
          <p:nvPr/>
        </p:nvSpPr>
        <p:spPr>
          <a:xfrm>
            <a:off x="6464808" y="4407408"/>
            <a:ext cx="292608" cy="29260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0" name="Text 28"/>
          <p:cNvSpPr/>
          <p:nvPr/>
        </p:nvSpPr>
        <p:spPr>
          <a:xfrm>
            <a:off x="6464808" y="4407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03720" y="434340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cellular contact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903720" y="473659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Highest-converting channel; keep telephone as backup only.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5577840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</p:spPr>
      </p:sp>
      <p:sp>
        <p:nvSpPr>
          <p:cNvPr id="34" name="Shape 32"/>
          <p:cNvSpPr/>
          <p:nvPr/>
        </p:nvSpPr>
        <p:spPr>
          <a:xfrm>
            <a:off x="841248" y="5870448"/>
            <a:ext cx="292608" cy="29260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5" name="Text 33"/>
          <p:cNvSpPr/>
          <p:nvPr/>
        </p:nvSpPr>
        <p:spPr>
          <a:xfrm>
            <a:off x="841248" y="5870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280160" y="580644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contact attempts at 2-3 calls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280160" y="619963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drops sharply after that; redirect effort to new leads.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63640" y="5486400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</p:spPr>
      </p:sp>
      <p:sp>
        <p:nvSpPr>
          <p:cNvPr id="39" name="Shape 37"/>
          <p:cNvSpPr/>
          <p:nvPr/>
        </p:nvSpPr>
        <p:spPr>
          <a:xfrm>
            <a:off x="6464808" y="5870448"/>
            <a:ext cx="292608" cy="29260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40" name="Text 38"/>
          <p:cNvSpPr/>
          <p:nvPr/>
        </p:nvSpPr>
        <p:spPr>
          <a:xfrm>
            <a:off x="6464808" y="5870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03720" y="580644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campaigns around Dec &amp; March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6903720" y="619963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outreach and staffing in these peak months.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10515600" cy="2834640"/>
          </a:xfrm>
          <a:prstGeom prst="roundRect">
            <a:avLst>
              <a:gd name="adj" fmla="val 2581"/>
            </a:avLst>
          </a:prstGeom>
          <a:solidFill>
            <a:srgbClr val="16324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965960"/>
            <a:ext cx="9784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engagement history, profession, age, education, existing debt, and contact strategy all shape a customer's likelihood to subscribe. Some relationships point to clear next steps — re-engaging past subscribers, favouring cellular contact, and limiting repeated outreach — while others call for further investigation.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findings give the bank a practical, evidence-based foundation for improving future term deposit campaigns.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08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Patricia Fagbola  |  </a:t>
            </a:r>
            <a:r>
              <a:rPr lang="en-US" sz="1200" dirty="0" err="1">
                <a:solidFill>
                  <a:srgbClr val="708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</a:t>
            </a:r>
            <a:r>
              <a:rPr lang="en-US" sz="1200">
                <a:solidFill>
                  <a:srgbClr val="708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</a:t>
            </a:r>
            <a:r>
              <a:rPr lang="en-US" sz="1200" dirty="0">
                <a:solidFill>
                  <a:srgbClr val="708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Internship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637</Words>
  <Application>Microsoft Office PowerPoint</Application>
  <PresentationFormat>Widescreen</PresentationFormat>
  <Paragraphs>96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Marketing Campaign: A Business Analytics Case Study</dc:title>
  <dc:subject>PptxGenJS Presentation</dc:subject>
  <dc:creator>Patricia Fagbola</dc:creator>
  <cp:lastModifiedBy>patriliciousfabgus@gmail.com</cp:lastModifiedBy>
  <cp:revision>2</cp:revision>
  <dcterms:created xsi:type="dcterms:W3CDTF">2026-07-08T19:00:45Z</dcterms:created>
  <dcterms:modified xsi:type="dcterms:W3CDTF">2026-07-08T19:08:26Z</dcterms:modified>
</cp:coreProperties>
</file>